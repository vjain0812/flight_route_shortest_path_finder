
<file path=[Content_Types].xml><?xml version="1.0" encoding="utf-8"?>
<Types xmlns="http://schemas.openxmlformats.org/package/2006/content-types">
  <Default Extension="m4a" ContentType="audi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5" d="100"/>
          <a:sy n="145" d="100"/>
        </p:scale>
        <p:origin x="100" y="10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505341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2.m4a"/><Relationship Id="rId1" Type="http://schemas.microsoft.com/office/2007/relationships/media" Target="../media/media2.m4a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3.m4a"/><Relationship Id="rId1" Type="http://schemas.microsoft.com/office/2007/relationships/media" Target="../media/media3.m4a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4.m4a"/><Relationship Id="rId1" Type="http://schemas.microsoft.com/office/2007/relationships/media" Target="../media/media4.m4a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5.m4a"/><Relationship Id="rId1" Type="http://schemas.microsoft.com/office/2007/relationships/media" Target="../media/media5.m4a"/><Relationship Id="rId6" Type="http://schemas.openxmlformats.org/officeDocument/2006/relationships/image" Target="../media/image1.png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6.m4a"/><Relationship Id="rId1" Type="http://schemas.microsoft.com/office/2007/relationships/media" Target="../media/media6.m4a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7.m4a"/><Relationship Id="rId1" Type="http://schemas.microsoft.com/office/2007/relationships/media" Target="../media/media7.m4a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365760"/>
            <a:ext cx="2560320" cy="2560320"/>
          </a:xfrm>
          <a:prstGeom prst="ellipse">
            <a:avLst/>
          </a:prstGeom>
          <a:solidFill>
            <a:srgbClr val="1A6DAE">
              <a:alpha val="25000"/>
            </a:srgbClr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309360" y="457200"/>
            <a:ext cx="23774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0" dirty="0">
                <a:solidFill>
                  <a:srgbClr val="4FC3F7"/>
                </a:solidFill>
              </a:rPr>
              <a:t>✈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Flight Route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dirty="0">
                <a:solidFill>
                  <a:srgbClr val="4FC3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Shortest Path Finder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2468880"/>
            <a:ext cx="2286000" cy="45720"/>
          </a:xfrm>
          <a:prstGeom prst="rect">
            <a:avLst/>
          </a:prstGeom>
          <a:solidFill>
            <a:srgbClr val="F4A620"/>
          </a:solidFill>
          <a:ln w="12700">
            <a:solidFill>
              <a:srgbClr val="F4A6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265176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C8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a computer find the best flight path between any two airports in the world?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MSML604 · Project 2  |  Individual Work  |  UID: 122082892</a:t>
            </a:r>
            <a:endParaRPr lang="en-US" sz="1000" dirty="0"/>
          </a:p>
        </p:txBody>
      </p:sp>
      <p:pic>
        <p:nvPicPr>
          <p:cNvPr id="15" name="Audio 14">
            <a:hlinkClick r:id="" action="ppaction://media"/>
            <a:extLst>
              <a:ext uri="{FF2B5EF4-FFF2-40B4-BE49-F238E27FC236}">
                <a16:creationId xmlns:a16="http://schemas.microsoft.com/office/drawing/2014/main" id="{D14EF660-AA5B-6A1B-3835-A27BAEB18CA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139844" t="-139844" r="-139844" b="-139844"/>
          <a:stretch>
            <a:fillRect/>
          </a:stretch>
        </p:blipFill>
        <p:spPr>
          <a:xfrm>
            <a:off x="7539228" y="3538728"/>
            <a:ext cx="1543050" cy="1543050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4537"/>
    </mc:Choice>
    <mc:Fallback>
      <p:transition spd="slow" advTm="2453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5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8F1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27432"/>
          </a:xfrm>
          <a:prstGeom prst="rect">
            <a:avLst/>
          </a:prstGeom>
          <a:solidFill>
            <a:srgbClr val="F4A620"/>
          </a:solidFill>
          <a:ln w="12700">
            <a:solidFill>
              <a:srgbClr val="F4A6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11480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C8D9E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28016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6D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Imagine This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783080"/>
            <a:ext cx="37490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want to fly from </a:t>
            </a: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Washington D.C.</a:t>
            </a: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</a:t>
            </a: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Tokyo, Japan.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single direct flight. You need to connect through other airports.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~7,000 airports and ~67,000 routes worldwide — how do you find the best path?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846320" y="1097280"/>
            <a:ext cx="411480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C8D9E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0" y="128016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6D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"Best" Mean?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029200" y="1874520"/>
            <a:ext cx="54864" cy="731520"/>
          </a:xfrm>
          <a:prstGeom prst="rect">
            <a:avLst/>
          </a:prstGeom>
          <a:solidFill>
            <a:srgbClr val="1A6DAE"/>
          </a:solidFill>
          <a:ln w="12700">
            <a:solidFill>
              <a:srgbClr val="1A6D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257800" y="187452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Fewest layovers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257800" y="219456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Minimize the number of connecting flights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0" y="3063240"/>
            <a:ext cx="54864" cy="731520"/>
          </a:xfrm>
          <a:prstGeom prst="rect">
            <a:avLst/>
          </a:prstGeom>
          <a:solidFill>
            <a:srgbClr val="F4A620"/>
          </a:solidFill>
          <a:ln w="12700">
            <a:solidFill>
              <a:srgbClr val="F4A6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257800" y="306324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Shortest distance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257800" y="338328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Minimize total kilometers flown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0" y="39776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A6D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app answers both — and compares them.</a:t>
            </a:r>
            <a:endParaRPr lang="en-US" sz="1200" dirty="0"/>
          </a:p>
        </p:txBody>
      </p:sp>
      <p:pic>
        <p:nvPicPr>
          <p:cNvPr id="27" name="Audio 26">
            <a:hlinkClick r:id="" action="ppaction://media"/>
            <a:extLst>
              <a:ext uri="{FF2B5EF4-FFF2-40B4-BE49-F238E27FC236}">
                <a16:creationId xmlns:a16="http://schemas.microsoft.com/office/drawing/2014/main" id="{20445C87-E3FF-5169-0374-0F5A7466BB7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139844" t="-139844" r="-139844" b="-139844"/>
          <a:stretch>
            <a:fillRect/>
          </a:stretch>
        </p:blipFill>
        <p:spPr>
          <a:xfrm>
            <a:off x="7539228" y="3538728"/>
            <a:ext cx="1543050" cy="1543050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3274"/>
    </mc:Choice>
    <mc:Fallback>
      <p:transition spd="slow" advTm="3327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7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It Works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27432"/>
          </a:xfrm>
          <a:prstGeom prst="rect">
            <a:avLst/>
          </a:prstGeom>
          <a:solidFill>
            <a:srgbClr val="F4A620"/>
          </a:solidFill>
          <a:ln w="12700">
            <a:solidFill>
              <a:srgbClr val="F4A6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560320" cy="3474720"/>
          </a:xfrm>
          <a:prstGeom prst="rect">
            <a:avLst/>
          </a:prstGeom>
          <a:solidFill>
            <a:srgbClr val="1B2D42"/>
          </a:solidFill>
          <a:ln w="12700">
            <a:solidFill>
              <a:srgbClr val="1A6D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94360" y="1188720"/>
            <a:ext cx="502920" cy="502920"/>
          </a:xfrm>
          <a:prstGeom prst="ellipse">
            <a:avLst/>
          </a:prstGeom>
          <a:solidFill>
            <a:srgbClr val="1A6DAE"/>
          </a:solidFill>
          <a:ln w="12700">
            <a:solidFill>
              <a:srgbClr val="1A6D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1188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187452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Airport Data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2468880"/>
            <a:ext cx="2240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8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67,000 real routes between ~7,000 airports loaded from the OpenFlights dataset — no made-up data.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035808" y="237744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4A620"/>
                </a:solidFill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246120" y="1097280"/>
            <a:ext cx="2560320" cy="3474720"/>
          </a:xfrm>
          <a:prstGeom prst="rect">
            <a:avLst/>
          </a:prstGeom>
          <a:solidFill>
            <a:srgbClr val="1B2D42"/>
          </a:solidFill>
          <a:ln w="12700">
            <a:solidFill>
              <a:srgbClr val="1A6D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383280" y="1188720"/>
            <a:ext cx="502920" cy="502920"/>
          </a:xfrm>
          <a:prstGeom prst="ellipse">
            <a:avLst/>
          </a:prstGeom>
          <a:solidFill>
            <a:srgbClr val="1A6DAE"/>
          </a:solidFill>
          <a:ln w="12700">
            <a:solidFill>
              <a:srgbClr val="1A6D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383280" y="1188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429000" y="187452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Map (Graph)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429000" y="2468880"/>
            <a:ext cx="2240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8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airport is a dot on a map. Each route is a one-way arrow connecting two airports. Distance in km = the arrow's weight.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824728" y="237744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4A620"/>
                </a:solidFill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035040" y="1097280"/>
            <a:ext cx="2560320" cy="3474720"/>
          </a:xfrm>
          <a:prstGeom prst="rect">
            <a:avLst/>
          </a:prstGeom>
          <a:solidFill>
            <a:srgbClr val="1B2D42"/>
          </a:solidFill>
          <a:ln w="12700">
            <a:solidFill>
              <a:srgbClr val="1A6D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172200" y="1188720"/>
            <a:ext cx="502920" cy="502920"/>
          </a:xfrm>
          <a:prstGeom prst="ellipse">
            <a:avLst/>
          </a:prstGeom>
          <a:solidFill>
            <a:srgbClr val="1A6DAE"/>
          </a:solidFill>
          <a:ln w="12700">
            <a:solidFill>
              <a:srgbClr val="1A6D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172200" y="1188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217920" y="187452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Algorithms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217920" y="2468880"/>
            <a:ext cx="2240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8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methods find the best path simultaneously and their results are shown side by side.</a:t>
            </a:r>
            <a:endParaRPr lang="en-US" sz="1200" dirty="0"/>
          </a:p>
        </p:txBody>
      </p:sp>
      <p:pic>
        <p:nvPicPr>
          <p:cNvPr id="27" name="Audio 26">
            <a:hlinkClick r:id="" action="ppaction://media"/>
            <a:extLst>
              <a:ext uri="{FF2B5EF4-FFF2-40B4-BE49-F238E27FC236}">
                <a16:creationId xmlns:a16="http://schemas.microsoft.com/office/drawing/2014/main" id="{895D2287-CEB9-05DA-9D38-2EAF6A56698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139844" t="-139844" r="-139844" b="-139844"/>
          <a:stretch>
            <a:fillRect/>
          </a:stretch>
        </p:blipFill>
        <p:spPr>
          <a:xfrm>
            <a:off x="7539228" y="3538728"/>
            <a:ext cx="1543050" cy="1543050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1424"/>
    </mc:Choice>
    <mc:Fallback>
      <p:transition spd="slow" advTm="3142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7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F1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Algorithms, One Question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27432"/>
          </a:xfrm>
          <a:prstGeom prst="rect">
            <a:avLst/>
          </a:prstGeom>
          <a:solidFill>
            <a:srgbClr val="F4A620"/>
          </a:solidFill>
          <a:ln w="12700">
            <a:solidFill>
              <a:srgbClr val="F4A6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393192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C8D9E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3931920" cy="457200"/>
          </a:xfrm>
          <a:prstGeom prst="rect">
            <a:avLst/>
          </a:prstGeom>
          <a:solidFill>
            <a:srgbClr val="1A6DAE"/>
          </a:solidFill>
          <a:ln w="12700">
            <a:solidFill>
              <a:srgbClr val="1A6D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1078992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  —  Fewest Stops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3566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BFS like ripples in a pond. It checks all airports reachable in 1 stop, then 2 stops, then 3 — until it reaches your destination.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The path with the fewest layovers.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40080" y="35204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A6D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Simple  ✓ Fast  ✗ Ignores distance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051560"/>
            <a:ext cx="393192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C8D9E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754880" y="1051560"/>
            <a:ext cx="3931920" cy="457200"/>
          </a:xfrm>
          <a:prstGeom prst="rect">
            <a:avLst/>
          </a:prstGeom>
          <a:solidFill>
            <a:srgbClr val="F4A620"/>
          </a:solidFill>
          <a:ln w="12700">
            <a:solidFill>
              <a:srgbClr val="F4A6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892040" y="1078992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Dijkstra  —  Shortest Distance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892040" y="1600200"/>
            <a:ext cx="3566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Dijkstra as a smart GPS. It always explores the cheapest path so far, making sure it never wastes distance on a detour.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The path with the least total kilometers.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892040" y="35204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B07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Distance-optimal  ✓ Real-world useful  ✗ More work</a:t>
            </a:r>
            <a:endParaRPr lang="en-US" sz="1100" dirty="0"/>
          </a:p>
        </p:txBody>
      </p:sp>
      <p:pic>
        <p:nvPicPr>
          <p:cNvPr id="22" name="Audio 21">
            <a:hlinkClick r:id="" action="ppaction://media"/>
            <a:extLst>
              <a:ext uri="{FF2B5EF4-FFF2-40B4-BE49-F238E27FC236}">
                <a16:creationId xmlns:a16="http://schemas.microsoft.com/office/drawing/2014/main" id="{85C0BAE9-1806-F0A0-5D5B-5CEA257CBE9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139844" t="-139844" r="-139844" b="-139844"/>
          <a:stretch>
            <a:fillRect/>
          </a:stretch>
        </p:blipFill>
        <p:spPr>
          <a:xfrm>
            <a:off x="7539228" y="3538728"/>
            <a:ext cx="1543050" cy="1543050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6682"/>
    </mc:Choice>
    <mc:Fallback>
      <p:transition spd="slow" advTm="4668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2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User Interface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27432"/>
          </a:xfrm>
          <a:prstGeom prst="rect">
            <a:avLst/>
          </a:prstGeom>
          <a:solidFill>
            <a:srgbClr val="F4A620"/>
          </a:solidFill>
          <a:ln w="12700">
            <a:solidFill>
              <a:srgbClr val="F4A6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31520" y="1234440"/>
            <a:ext cx="3200400" cy="457200"/>
          </a:xfrm>
          <a:prstGeom prst="rect">
            <a:avLst/>
          </a:prstGeom>
          <a:solidFill>
            <a:srgbClr val="0D1B2A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1261872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JFK – New York, USA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114800" y="1234440"/>
            <a:ext cx="3200400" cy="457200"/>
          </a:xfrm>
          <a:prstGeom prst="rect">
            <a:avLst/>
          </a:prstGeom>
          <a:solidFill>
            <a:srgbClr val="0D1B2A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206240" y="1261872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Destination: NRT – Tokyo, Japan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498080" y="1234440"/>
            <a:ext cx="1005840" cy="457200"/>
          </a:xfrm>
          <a:prstGeom prst="rect">
            <a:avLst/>
          </a:prstGeom>
          <a:solidFill>
            <a:srgbClr val="1A6DAE"/>
          </a:solidFill>
          <a:ln w="12700">
            <a:solidFill>
              <a:srgbClr val="1A6D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498080" y="1261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Search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1874520"/>
            <a:ext cx="3657600" cy="2651760"/>
          </a:xfrm>
          <a:prstGeom prst="rect">
            <a:avLst/>
          </a:prstGeom>
          <a:solidFill>
            <a:srgbClr val="0D1B2A"/>
          </a:solidFill>
          <a:ln w="12700">
            <a:solidFill>
              <a:srgbClr val="F4A6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31520" y="1874520"/>
            <a:ext cx="3657600" cy="365760"/>
          </a:xfrm>
          <a:prstGeom prst="rect">
            <a:avLst/>
          </a:prstGeom>
          <a:solidFill>
            <a:srgbClr val="F4A620"/>
          </a:solidFill>
          <a:ln w="12700">
            <a:solidFill>
              <a:srgbClr val="F4A6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22960" y="1892808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Dijkstra (Min Distance)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68680" y="237744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JFK → ORD → ANC → NRT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68680" y="32004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4A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10,838 km  |  2 stops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63440" y="1874520"/>
            <a:ext cx="3657600" cy="2651760"/>
          </a:xfrm>
          <a:prstGeom prst="rect">
            <a:avLst/>
          </a:prstGeom>
          <a:solidFill>
            <a:srgbClr val="0D1B2A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663440" y="1874520"/>
            <a:ext cx="3657600" cy="36576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754880" y="1892808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 (Fewest Stops)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00600" y="237744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JFK → NRT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00600" y="32004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10,838 km  |  direct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31520" y="46177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Type any airport name or 3-letter code and compare both routes instantly</a:t>
            </a:r>
            <a:endParaRPr lang="en-US" sz="105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F3D54D98-E586-852A-D178-27A7B31B3B8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2061"/>
          <a:stretch>
            <a:fillRect/>
          </a:stretch>
        </p:blipFill>
        <p:spPr>
          <a:xfrm>
            <a:off x="551278" y="1072587"/>
            <a:ext cx="7952642" cy="3545134"/>
          </a:xfrm>
          <a:prstGeom prst="rect">
            <a:avLst/>
          </a:prstGeom>
        </p:spPr>
      </p:pic>
      <p:pic>
        <p:nvPicPr>
          <p:cNvPr id="31" name="Audio 30">
            <a:hlinkClick r:id="" action="ppaction://media"/>
            <a:extLst>
              <a:ext uri="{FF2B5EF4-FFF2-40B4-BE49-F238E27FC236}">
                <a16:creationId xmlns:a16="http://schemas.microsoft.com/office/drawing/2014/main" id="{D95D78D9-C807-D1DF-D6D1-CE7360C9416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rcRect l="-139844" t="-139844" r="-139844" b="-139844"/>
          <a:stretch>
            <a:fillRect/>
          </a:stretch>
        </p:blipFill>
        <p:spPr>
          <a:xfrm>
            <a:off x="7539228" y="3538728"/>
            <a:ext cx="1543050" cy="1543050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4413"/>
    </mc:Choice>
    <mc:Fallback>
      <p:transition spd="slow" advTm="2441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1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8F1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This Matters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27432"/>
          </a:xfrm>
          <a:prstGeom prst="rect">
            <a:avLst/>
          </a:prstGeom>
          <a:solidFill>
            <a:srgbClr val="F4A620"/>
          </a:solidFill>
          <a:ln w="12700">
            <a:solidFill>
              <a:srgbClr val="F4A6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algorithm that powers this app is used in: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393192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C8D9E8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🗺️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280160" y="173736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Navigation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80160" y="210312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Maps uses Dijkstra-like methods to find shortest driving routes in real time.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800600" y="1600200"/>
            <a:ext cx="393192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C8D9E8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983480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📦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5623560" y="173736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Delivery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623560" y="210312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FedEx &amp; UPS optimize delivery routes across thousands of stops each day.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3246120"/>
            <a:ext cx="393192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C8D9E8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0080" y="3383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🌐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280160" y="338328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Routing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280160" y="374904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packets on the internet are routed using shortest-path algorithms across network nodes.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800600" y="3246120"/>
            <a:ext cx="393192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C8D9E8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983480" y="3383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💊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5623560" y="338328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Networks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623560" y="374904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systems find the fastest path to route patients to available care.</a:t>
            </a:r>
            <a:endParaRPr lang="en-US" sz="1150" dirty="0"/>
          </a:p>
        </p:txBody>
      </p:sp>
      <p:pic>
        <p:nvPicPr>
          <p:cNvPr id="24" name="Audio 23">
            <a:hlinkClick r:id="" action="ppaction://media"/>
            <a:extLst>
              <a:ext uri="{FF2B5EF4-FFF2-40B4-BE49-F238E27FC236}">
                <a16:creationId xmlns:a16="http://schemas.microsoft.com/office/drawing/2014/main" id="{F637A9EB-9C37-0964-4559-94F46984E4C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139844" t="-139844" r="-139844" b="-139844"/>
          <a:stretch>
            <a:fillRect/>
          </a:stretch>
        </p:blipFill>
        <p:spPr>
          <a:xfrm>
            <a:off x="7539228" y="3538728"/>
            <a:ext cx="1543050" cy="1543050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7056"/>
    </mc:Choice>
    <mc:Fallback>
      <p:transition spd="slow" advTm="1705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4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457200"/>
            <a:ext cx="3200400" cy="3200400"/>
          </a:xfrm>
          <a:prstGeom prst="ellipse">
            <a:avLst/>
          </a:prstGeom>
          <a:solidFill>
            <a:srgbClr val="1A6DAE">
              <a:alpha val="20000"/>
            </a:srgbClr>
          </a:solidFill>
          <a:ln w="635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2743200" cy="36576"/>
          </a:xfrm>
          <a:prstGeom prst="rect">
            <a:avLst/>
          </a:prstGeom>
          <a:solidFill>
            <a:srgbClr val="F4A620"/>
          </a:solidFill>
          <a:ln w="12700">
            <a:solidFill>
              <a:srgbClr val="F4A6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274320" cy="274320"/>
          </a:xfrm>
          <a:prstGeom prst="ellipse">
            <a:avLst/>
          </a:prstGeom>
          <a:solidFill>
            <a:srgbClr val="1A6DAE"/>
          </a:solidFill>
          <a:ln w="12700">
            <a:solidFill>
              <a:srgbClr val="1A6D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2344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68680" y="121615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8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airline data — 7,000 airports, 67,000 routes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892808"/>
            <a:ext cx="274320" cy="274320"/>
          </a:xfrm>
          <a:prstGeom prst="ellipse">
            <a:avLst/>
          </a:prstGeom>
          <a:solidFill>
            <a:srgbClr val="1A6DAE"/>
          </a:solidFill>
          <a:ln w="12700">
            <a:solidFill>
              <a:srgbClr val="1A6D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1892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68680" y="1874520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8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 finds the fewest stops (ignores distance)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551176"/>
            <a:ext cx="274320" cy="274320"/>
          </a:xfrm>
          <a:prstGeom prst="ellipse">
            <a:avLst/>
          </a:prstGeom>
          <a:solidFill>
            <a:srgbClr val="1A6DAE"/>
          </a:solidFill>
          <a:ln w="12700">
            <a:solidFill>
              <a:srgbClr val="1A6D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25511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68680" y="2532888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8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Dijkstra finds the shortest distance (the smarter choice)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209544"/>
            <a:ext cx="274320" cy="274320"/>
          </a:xfrm>
          <a:prstGeom prst="ellipse">
            <a:avLst/>
          </a:prstGeom>
          <a:solidFill>
            <a:srgbClr val="1A6DAE"/>
          </a:solidFill>
          <a:ln w="12700">
            <a:solidFill>
              <a:srgbClr val="1A6D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7200" y="32095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68680" y="3191256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8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Side-by-side comparison shows why algorithm choice matters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3867912"/>
            <a:ext cx="274320" cy="274320"/>
          </a:xfrm>
          <a:prstGeom prst="ellipse">
            <a:avLst/>
          </a:prstGeom>
          <a:solidFill>
            <a:srgbClr val="1A6DAE"/>
          </a:solidFill>
          <a:ln w="12700">
            <a:solidFill>
              <a:srgbClr val="1A6D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57200" y="38679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68680" y="3849624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8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logic powers GPS, logistics, and the internet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4617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Python · Flask · OpenFlights Dataset · Dijkstra's Algorithm · BFS</a:t>
            </a:r>
            <a:endParaRPr lang="en-US" sz="1000" dirty="0"/>
          </a:p>
        </p:txBody>
      </p:sp>
      <p:pic>
        <p:nvPicPr>
          <p:cNvPr id="23" name="Audio 22">
            <a:hlinkClick r:id="" action="ppaction://media"/>
            <a:extLst>
              <a:ext uri="{FF2B5EF4-FFF2-40B4-BE49-F238E27FC236}">
                <a16:creationId xmlns:a16="http://schemas.microsoft.com/office/drawing/2014/main" id="{8C6F4EC7-E4E0-2B6A-6983-8921DA68C94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139844" t="-139844" r="-139844" b="-139844"/>
          <a:stretch>
            <a:fillRect/>
          </a:stretch>
        </p:blipFill>
        <p:spPr>
          <a:xfrm>
            <a:off x="7539228" y="3538728"/>
            <a:ext cx="1543050" cy="1543050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581"/>
    </mc:Choice>
    <mc:Fallback>
      <p:transition spd="slow" advTm="658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3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949</TotalTime>
  <Words>514</Words>
  <Application>Microsoft Office PowerPoint</Application>
  <PresentationFormat>On-screen Show (16:9)</PresentationFormat>
  <Paragraphs>86</Paragraphs>
  <Slides>7</Slides>
  <Notes>7</Notes>
  <HiddenSlides>0</HiddenSlides>
  <MMClips>7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Vansh Jain</cp:lastModifiedBy>
  <cp:revision>3</cp:revision>
  <dcterms:created xsi:type="dcterms:W3CDTF">2026-05-06T23:02:59Z</dcterms:created>
  <dcterms:modified xsi:type="dcterms:W3CDTF">2026-05-07T15:13:12Z</dcterms:modified>
</cp:coreProperties>
</file>